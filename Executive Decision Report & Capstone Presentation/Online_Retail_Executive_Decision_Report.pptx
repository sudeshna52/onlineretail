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23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ONLINE RETAIL BUSINESS INTELLIGENCE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143000"/>
            <a:ext cx="10972800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81328"/>
            <a:ext cx="1033272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32A34"/>
                </a:solidFill>
              </a:defRPr>
            </a:pPr>
            <a:r>
              <a:t>Executive Decision Report &amp; Capstone Presentation</a:t>
            </a:r>
          </a:p>
          <a:p>
            <a:pPr>
              <a:spcAft>
                <a:spcPts val="800"/>
              </a:spcAft>
              <a:defRPr sz="1700">
                <a:solidFill>
                  <a:srgbClr val="232A34"/>
                </a:solidFill>
              </a:defRPr>
            </a:pPr>
            <a:r>
              <a:t>Data-driven recommendations for revenue growth, customer retention and product optimization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</a:defRPr>
            </a:pPr>
            <a:r>
              <a:t>Online Retail BI Capstone  •  1/13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23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Executive Summary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143000"/>
            <a:ext cx="10972800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81328"/>
            <a:ext cx="1033272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32A34"/>
                </a:solidFill>
              </a:defRPr>
            </a:pPr>
            <a:r>
              <a:t>• Revenue analyzed: ₹7.17M equivalent dataset revenue</a:t>
            </a:r>
          </a:p>
          <a:p>
            <a:pPr>
              <a:spcAft>
                <a:spcPts val="800"/>
              </a:spcAft>
              <a:defRPr sz="1700">
                <a:solidFill>
                  <a:srgbClr val="232A34"/>
                </a:solidFill>
              </a:defRPr>
            </a:pPr>
            <a:r>
              <a:t>• 22.186K orders and ~4K customers are represented in the dashboard</a:t>
            </a:r>
          </a:p>
          <a:p>
            <a:pPr>
              <a:spcAft>
                <a:spcPts val="800"/>
              </a:spcAft>
              <a:defRPr sz="1700">
                <a:solidFill>
                  <a:srgbClr val="232A34"/>
                </a:solidFill>
              </a:defRPr>
            </a:pPr>
            <a:r>
              <a:t>• Average Order Value: 323.16</a:t>
            </a:r>
          </a:p>
          <a:p>
            <a:pPr>
              <a:spcAft>
                <a:spcPts val="800"/>
              </a:spcAft>
              <a:defRPr sz="1700">
                <a:solidFill>
                  <a:srgbClr val="232A34"/>
                </a:solidFill>
              </a:defRPr>
            </a:pPr>
            <a:r>
              <a:t>• Quantity and revenue show a very strong positive relationship (r ≈ 0.943)</a:t>
            </a:r>
          </a:p>
          <a:p>
            <a:pPr>
              <a:spcAft>
                <a:spcPts val="800"/>
              </a:spcAft>
              <a:defRPr sz="1700">
                <a:solidFill>
                  <a:srgbClr val="232A34"/>
                </a:solidFill>
              </a:defRPr>
            </a:pPr>
            <a:r>
              <a:t>• Customer Churn Rate is a 90-day inactivity proxy: 33.26%</a:t>
            </a:r>
          </a:p>
          <a:p>
            <a:pPr>
              <a:spcAft>
                <a:spcPts val="800"/>
              </a:spcAft>
              <a:defRPr sz="1700">
                <a:solidFill>
                  <a:srgbClr val="232A34"/>
                </a:solidFill>
              </a:defRPr>
            </a:pPr>
            <a:r>
              <a:t>• Priority: protect high-performing products, reactivate inactive customers and focus commercial effort on high-value markets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</a:defRPr>
            </a:pPr>
            <a:r>
              <a:t>Online Retail BI Capstone  •  2/13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23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Business Question &amp; 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143000"/>
            <a:ext cx="10972800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81328"/>
            <a:ext cx="1033272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232A34"/>
                </a:solidFill>
              </a:defRPr>
            </a:pPr>
            <a:r>
              <a:t>Business questions:</a:t>
            </a:r>
          </a:p>
          <a:p>
            <a:pPr>
              <a:spcAft>
                <a:spcPts val="800"/>
              </a:spcAft>
              <a:defRPr sz="1700">
                <a:solidFill>
                  <a:srgbClr val="232A34"/>
                </a:solidFill>
              </a:defRPr>
            </a:pPr>
            <a:r>
              <a:t>• What drives revenue and order value?</a:t>
            </a:r>
          </a:p>
          <a:p>
            <a:pPr>
              <a:spcAft>
                <a:spcPts val="800"/>
              </a:spcAft>
              <a:defRPr sz="1700">
                <a:solidFill>
                  <a:srgbClr val="232A34"/>
                </a:solidFill>
              </a:defRPr>
            </a:pPr>
            <a:r>
              <a:t>• Which products and countries deserve commercial focus?</a:t>
            </a:r>
          </a:p>
          <a:p>
            <a:pPr>
              <a:spcAft>
                <a:spcPts val="800"/>
              </a:spcAft>
              <a:defRPr sz="1700">
                <a:solidFill>
                  <a:srgbClr val="232A34"/>
                </a:solidFill>
              </a:defRPr>
            </a:pPr>
            <a:r>
              <a:t>• Where is customer inactivity creating risk?</a:t>
            </a:r>
          </a:p>
          <a:p>
            <a:pPr>
              <a:spcAft>
                <a:spcPts val="800"/>
              </a:spcAft>
              <a:defRPr sz="1700">
                <a:solidFill>
                  <a:srgbClr val="232A34"/>
                </a:solidFill>
              </a:defRPr>
            </a:pPr>
            <a:r>
              <a:t>• Which actions can produce measurable financial impact?</a:t>
            </a:r>
          </a:p>
          <a:p>
            <a:pPr>
              <a:spcAft>
                <a:spcPts val="800"/>
              </a:spcAft>
              <a:defRPr sz="1700">
                <a:solidFill>
                  <a:srgbClr val="232A34"/>
                </a:solidFill>
              </a:defRPr>
            </a:pPr>
          </a:p>
          <a:p>
            <a:pPr>
              <a:spcAft>
                <a:spcPts val="800"/>
              </a:spcAft>
              <a:defRPr sz="1700" b="1">
                <a:solidFill>
                  <a:srgbClr val="232A34"/>
                </a:solidFill>
              </a:defRPr>
            </a:pPr>
            <a:r>
              <a:t>Objectives:</a:t>
            </a:r>
          </a:p>
          <a:p>
            <a:pPr>
              <a:spcAft>
                <a:spcPts val="800"/>
              </a:spcAft>
              <a:defRPr sz="1700">
                <a:solidFill>
                  <a:srgbClr val="232A34"/>
                </a:solidFill>
              </a:defRPr>
            </a:pPr>
            <a:r>
              <a:t>• Convert transaction data into executive KPIs</a:t>
            </a:r>
          </a:p>
          <a:p>
            <a:pPr>
              <a:spcAft>
                <a:spcPts val="800"/>
              </a:spcAft>
              <a:defRPr sz="1700">
                <a:solidFill>
                  <a:srgbClr val="232A34"/>
                </a:solidFill>
              </a:defRPr>
            </a:pPr>
            <a:r>
              <a:t>• Identify revenue drivers and risk areas</a:t>
            </a:r>
          </a:p>
          <a:p>
            <a:pPr>
              <a:spcAft>
                <a:spcPts val="800"/>
              </a:spcAft>
              <a:defRPr sz="1700">
                <a:solidFill>
                  <a:srgbClr val="232A34"/>
                </a:solidFill>
              </a:defRPr>
            </a:pPr>
            <a:r>
              <a:t>• Recommend three practical, measurable interventions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</a:defRPr>
            </a:pPr>
            <a:r>
              <a:t>Online Retail BI Capstone  •  3/13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23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Data &amp; Analytical Methodology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143000"/>
            <a:ext cx="10972800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81328"/>
            <a:ext cx="1033272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32A34"/>
                </a:solidFill>
              </a:defRPr>
            </a:pPr>
            <a:r>
              <a:t>Source: cleaned Online Retail transaction dataset</a:t>
            </a:r>
          </a:p>
          <a:p>
            <a:pPr>
              <a:spcAft>
                <a:spcPts val="800"/>
              </a:spcAft>
              <a:defRPr sz="1700">
                <a:solidFill>
                  <a:srgbClr val="232A34"/>
                </a:solidFill>
              </a:defRPr>
            </a:pPr>
          </a:p>
          <a:p>
            <a:pPr>
              <a:spcAft>
                <a:spcPts val="800"/>
              </a:spcAft>
              <a:defRPr sz="1700" b="1">
                <a:solidFill>
                  <a:srgbClr val="232A34"/>
                </a:solidFill>
              </a:defRPr>
            </a:pPr>
            <a:r>
              <a:t>Workflow:</a:t>
            </a:r>
          </a:p>
          <a:p>
            <a:pPr>
              <a:spcAft>
                <a:spcPts val="800"/>
              </a:spcAft>
              <a:defRPr sz="1700">
                <a:solidFill>
                  <a:srgbClr val="232A34"/>
                </a:solidFill>
              </a:defRPr>
            </a:pPr>
            <a:r>
              <a:t>1. Data cleaning and preprocessing</a:t>
            </a:r>
          </a:p>
          <a:p>
            <a:pPr>
              <a:spcAft>
                <a:spcPts val="800"/>
              </a:spcAft>
              <a:defRPr sz="1700">
                <a:solidFill>
                  <a:srgbClr val="232A34"/>
                </a:solidFill>
              </a:defRPr>
            </a:pPr>
            <a:r>
              <a:t>2. Feature engineering: Year, Month, Month Name and Revenue</a:t>
            </a:r>
          </a:p>
          <a:p>
            <a:pPr>
              <a:spcAft>
                <a:spcPts val="800"/>
              </a:spcAft>
              <a:defRPr sz="1700">
                <a:solidFill>
                  <a:srgbClr val="232A34"/>
                </a:solidFill>
              </a:defRPr>
            </a:pPr>
            <a:r>
              <a:t>3. Descriptive statistics and outlier analysis</a:t>
            </a:r>
          </a:p>
          <a:p>
            <a:pPr>
              <a:spcAft>
                <a:spcPts val="800"/>
              </a:spcAft>
              <a:defRPr sz="1700">
                <a:solidFill>
                  <a:srgbClr val="232A34"/>
                </a:solidFill>
              </a:defRPr>
            </a:pPr>
            <a:r>
              <a:t>4. Correlation and hypothesis testing</a:t>
            </a:r>
          </a:p>
          <a:p>
            <a:pPr>
              <a:spcAft>
                <a:spcPts val="800"/>
              </a:spcAft>
              <a:defRPr sz="1700">
                <a:solidFill>
                  <a:srgbClr val="232A34"/>
                </a:solidFill>
              </a:defRPr>
            </a:pPr>
            <a:r>
              <a:t>5. Power BI KPI, trend, geographic and product analysis</a:t>
            </a:r>
          </a:p>
          <a:p>
            <a:pPr>
              <a:spcAft>
                <a:spcPts val="800"/>
              </a:spcAft>
              <a:defRPr sz="1700">
                <a:solidFill>
                  <a:srgbClr val="232A34"/>
                </a:solidFill>
              </a:defRPr>
            </a:pPr>
            <a:r>
              <a:t>6. Executive recommendations and scenario-based ROI modeling</a:t>
            </a:r>
          </a:p>
          <a:p>
            <a:pPr>
              <a:spcAft>
                <a:spcPts val="800"/>
              </a:spcAft>
              <a:defRPr sz="1700">
                <a:solidFill>
                  <a:srgbClr val="232A34"/>
                </a:solidFill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232A34"/>
                </a:solidFill>
              </a:defRPr>
            </a:pPr>
            <a:r>
              <a:t>Important: Churn is not directly recorded; 33.26% is an explicitly labeled 90-day inactivity proxy.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</a:defRPr>
            </a:pPr>
            <a:r>
              <a:t>Online Retail BI Capstone  •  4/13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23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Executive KPI Snapshot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143000"/>
            <a:ext cx="10972800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81328"/>
            <a:ext cx="1033272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232A34"/>
                </a:solidFill>
              </a:defRPr>
            </a:pPr>
            <a:r>
              <a:t>TOTAL REVENUE                         7.17M</a:t>
            </a:r>
          </a:p>
          <a:p>
            <a:pPr>
              <a:spcAft>
                <a:spcPts val="800"/>
              </a:spcAft>
              <a:defRPr sz="1900" b="1">
                <a:solidFill>
                  <a:srgbClr val="232A34"/>
                </a:solidFill>
              </a:defRPr>
            </a:pPr>
            <a:r>
              <a:t>TOTAL ORDERS                         22.186K</a:t>
            </a:r>
          </a:p>
          <a:p>
            <a:pPr>
              <a:spcAft>
                <a:spcPts val="800"/>
              </a:spcAft>
              <a:defRPr sz="1900" b="1">
                <a:solidFill>
                  <a:srgbClr val="232A34"/>
                </a:solidFill>
              </a:defRPr>
            </a:pPr>
            <a:r>
              <a:t>TOTAL CUSTOMERS                      ~4K</a:t>
            </a:r>
          </a:p>
          <a:p>
            <a:pPr>
              <a:spcAft>
                <a:spcPts val="800"/>
              </a:spcAft>
              <a:defRPr sz="1900" b="1">
                <a:solidFill>
                  <a:srgbClr val="232A34"/>
                </a:solidFill>
              </a:defRPr>
            </a:pPr>
            <a:r>
              <a:t>AVERAGE ORDER VALUE                  323.16</a:t>
            </a:r>
          </a:p>
          <a:p>
            <a:pPr>
              <a:spcAft>
                <a:spcPts val="800"/>
              </a:spcAft>
              <a:defRPr sz="1900" b="1">
                <a:solidFill>
                  <a:srgbClr val="232A34"/>
                </a:solidFill>
              </a:defRPr>
            </a:pPr>
            <a:r>
              <a:t>90-DAY INACTIVITY / CHURN PROXY      33.26%</a:t>
            </a:r>
          </a:p>
          <a:p>
            <a:pPr>
              <a:spcAft>
                <a:spcPts val="800"/>
              </a:spcAft>
              <a:defRPr sz="1900">
                <a:solidFill>
                  <a:srgbClr val="232A34"/>
                </a:solidFill>
              </a:defRPr>
            </a:pPr>
          </a:p>
          <a:p>
            <a:pPr>
              <a:spcAft>
                <a:spcPts val="800"/>
              </a:spcAft>
              <a:defRPr sz="1900">
                <a:solidFill>
                  <a:srgbClr val="232A34"/>
                </a:solidFill>
              </a:defRPr>
            </a:pPr>
            <a:r>
              <a:t>These KPIs form the executive monitoring layer of the Power BI dashboard.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</a:defRPr>
            </a:pPr>
            <a:r>
              <a:t>Online Retail BI Capstone  •  5/13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23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Key Revenue Drivers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143000"/>
            <a:ext cx="10972800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81328"/>
            <a:ext cx="1033272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32A34"/>
                </a:solidFill>
              </a:defRPr>
            </a:pPr>
            <a:r>
              <a:t>• Quantity vs Revenue: r ≈ 0.943 — the strongest relationship identified</a:t>
            </a:r>
          </a:p>
          <a:p>
            <a:pPr>
              <a:spcAft>
                <a:spcPts val="800"/>
              </a:spcAft>
              <a:defRPr sz="1700">
                <a:solidFill>
                  <a:srgbClr val="232A34"/>
                </a:solidFill>
              </a:defRPr>
            </a:pPr>
            <a:r>
              <a:t>• Unit Price vs Revenue: r ≈ 0.018 — very weak linear relationship</a:t>
            </a:r>
          </a:p>
          <a:p>
            <a:pPr>
              <a:spcAft>
                <a:spcPts val="800"/>
              </a:spcAft>
              <a:defRPr sz="1700">
                <a:solidFill>
                  <a:srgbClr val="232A34"/>
                </a:solidFill>
              </a:defRPr>
            </a:pPr>
            <a:r>
              <a:t>• Unit Price vs Quantity: r ≈ −0.022 — weak inverse relationship</a:t>
            </a:r>
          </a:p>
          <a:p>
            <a:pPr>
              <a:spcAft>
                <a:spcPts val="800"/>
              </a:spcAft>
              <a:defRPr sz="1700">
                <a:solidFill>
                  <a:srgbClr val="232A34"/>
                </a:solidFill>
              </a:defRPr>
            </a:pPr>
            <a:r>
              <a:t>• Revenue fluctuates materially over time, with visible transaction-level spikes and negative-return periods</a:t>
            </a:r>
          </a:p>
          <a:p>
            <a:pPr>
              <a:spcAft>
                <a:spcPts val="800"/>
              </a:spcAft>
              <a:defRPr sz="1700">
                <a:solidFill>
                  <a:srgbClr val="232A34"/>
                </a:solidFill>
              </a:defRPr>
            </a:pPr>
          </a:p>
          <a:p>
            <a:pPr>
              <a:spcAft>
                <a:spcPts val="800"/>
              </a:spcAft>
              <a:defRPr sz="1700" b="1">
                <a:solidFill>
                  <a:srgbClr val="232A34"/>
                </a:solidFill>
              </a:defRPr>
            </a:pPr>
            <a:r>
              <a:t>Decision implication:</a:t>
            </a:r>
          </a:p>
          <a:p>
            <a:pPr>
              <a:spcAft>
                <a:spcPts val="800"/>
              </a:spcAft>
              <a:defRPr sz="1700">
                <a:solidFill>
                  <a:srgbClr val="232A34"/>
                </a:solidFill>
              </a:defRPr>
            </a:pPr>
            <a:r>
              <a:t>Revenue growth should emphasize order volume, product demand and repeat purchasing rather than relying primarily on price increases.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</a:defRPr>
            </a:pPr>
            <a:r>
              <a:t>Online Retail BI Capstone  •  6/13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23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Product Performance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143000"/>
            <a:ext cx="10972800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81328"/>
            <a:ext cx="1033272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32A34"/>
                </a:solidFill>
              </a:defRPr>
            </a:pPr>
            <a:r>
              <a:t>The Top 10 Products by Revenue visualization identifies a concentrated group of high-value products.</a:t>
            </a:r>
          </a:p>
          <a:p>
            <a:pPr>
              <a:spcAft>
                <a:spcPts val="800"/>
              </a:spcAft>
              <a:defRPr sz="1700">
                <a:solidFill>
                  <a:srgbClr val="232A34"/>
                </a:solidFill>
              </a:defRPr>
            </a:pPr>
          </a:p>
          <a:p>
            <a:pPr>
              <a:spcAft>
                <a:spcPts val="800"/>
              </a:spcAft>
              <a:defRPr sz="1700" b="1">
                <a:solidFill>
                  <a:srgbClr val="232A34"/>
                </a:solidFill>
              </a:defRPr>
            </a:pPr>
            <a:r>
              <a:t>Recommended executive action:</a:t>
            </a:r>
          </a:p>
          <a:p>
            <a:pPr>
              <a:spcAft>
                <a:spcPts val="800"/>
              </a:spcAft>
              <a:defRPr sz="1700">
                <a:solidFill>
                  <a:srgbClr val="232A34"/>
                </a:solidFill>
              </a:defRPr>
            </a:pPr>
            <a:r>
              <a:t>• Protect availability of top-revenue SKUs</a:t>
            </a:r>
          </a:p>
          <a:p>
            <a:pPr>
              <a:spcAft>
                <a:spcPts val="800"/>
              </a:spcAft>
              <a:defRPr sz="1700">
                <a:solidFill>
                  <a:srgbClr val="232A34"/>
                </a:solidFill>
              </a:defRPr>
            </a:pPr>
            <a:r>
              <a:t>• Prioritize these products in campaigns and cross-sell journeys</a:t>
            </a:r>
          </a:p>
          <a:p>
            <a:pPr>
              <a:spcAft>
                <a:spcPts val="800"/>
              </a:spcAft>
              <a:defRPr sz="1700">
                <a:solidFill>
                  <a:srgbClr val="232A34"/>
                </a:solidFill>
              </a:defRPr>
            </a:pPr>
            <a:r>
              <a:t>• Monitor stock-outs and return/cancellation behavior</a:t>
            </a:r>
          </a:p>
          <a:p>
            <a:pPr>
              <a:spcAft>
                <a:spcPts val="800"/>
              </a:spcAft>
              <a:defRPr sz="1700">
                <a:solidFill>
                  <a:srgbClr val="232A34"/>
                </a:solidFill>
              </a:defRPr>
            </a:pPr>
            <a:r>
              <a:t>• Build bundles around high-performing products to increase basket size</a:t>
            </a:r>
          </a:p>
          <a:p>
            <a:pPr>
              <a:spcAft>
                <a:spcPts val="800"/>
              </a:spcAft>
              <a:defRPr sz="1700">
                <a:solidFill>
                  <a:srgbClr val="232A34"/>
                </a:solidFill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232A34"/>
                </a:solidFill>
              </a:defRPr>
            </a:pPr>
            <a:r>
              <a:t>The dashboard should be used to refresh this ranking as new transaction data arrives.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</a:defRPr>
            </a:pPr>
            <a:r>
              <a:t>Online Retail BI Capstone  •  7/13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23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Geographic Revenue Opportunity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143000"/>
            <a:ext cx="10972800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81328"/>
            <a:ext cx="1033272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32A34"/>
                </a:solidFill>
              </a:defRPr>
            </a:pPr>
            <a:r>
              <a:t>The country-level map shows that revenue is geographically concentrated rather than evenly distributed.</a:t>
            </a:r>
          </a:p>
          <a:p>
            <a:pPr>
              <a:spcAft>
                <a:spcPts val="800"/>
              </a:spcAft>
              <a:defRPr sz="1700">
                <a:solidFill>
                  <a:srgbClr val="232A34"/>
                </a:solidFill>
              </a:defRPr>
            </a:pPr>
          </a:p>
          <a:p>
            <a:pPr>
              <a:spcAft>
                <a:spcPts val="800"/>
              </a:spcAft>
              <a:defRPr sz="1700" b="1">
                <a:solidFill>
                  <a:srgbClr val="232A34"/>
                </a:solidFill>
              </a:defRPr>
            </a:pPr>
            <a:r>
              <a:t>Recommended action:</a:t>
            </a:r>
          </a:p>
          <a:p>
            <a:pPr>
              <a:spcAft>
                <a:spcPts val="800"/>
              </a:spcAft>
              <a:defRPr sz="1700">
                <a:solidFill>
                  <a:srgbClr val="232A34"/>
                </a:solidFill>
              </a:defRPr>
            </a:pPr>
            <a:r>
              <a:t>• Rank countries by revenue and order frequency</a:t>
            </a:r>
          </a:p>
          <a:p>
            <a:pPr>
              <a:spcAft>
                <a:spcPts val="800"/>
              </a:spcAft>
              <a:defRPr sz="1700">
                <a:solidFill>
                  <a:srgbClr val="232A34"/>
                </a:solidFill>
              </a:defRPr>
            </a:pPr>
            <a:r>
              <a:t>• Allocate marketing and inventory effort to high-value markets</a:t>
            </a:r>
          </a:p>
          <a:p>
            <a:pPr>
              <a:spcAft>
                <a:spcPts val="800"/>
              </a:spcAft>
              <a:defRPr sz="1700">
                <a:solidFill>
                  <a:srgbClr val="232A34"/>
                </a:solidFill>
              </a:defRPr>
            </a:pPr>
            <a:r>
              <a:t>• Use country slicers to compare performance over time</a:t>
            </a:r>
          </a:p>
          <a:p>
            <a:pPr>
              <a:spcAft>
                <a:spcPts val="800"/>
              </a:spcAft>
              <a:defRPr sz="1700">
                <a:solidFill>
                  <a:srgbClr val="232A34"/>
                </a:solidFill>
              </a:defRPr>
            </a:pPr>
            <a:r>
              <a:t>• Investigate low-revenue markets before increasing acquisition spend</a:t>
            </a:r>
          </a:p>
          <a:p>
            <a:pPr>
              <a:spcAft>
                <a:spcPts val="800"/>
              </a:spcAft>
              <a:defRPr sz="1700">
                <a:solidFill>
                  <a:srgbClr val="232A34"/>
                </a:solidFill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232A34"/>
                </a:solidFill>
              </a:defRPr>
            </a:pPr>
            <a:r>
              <a:t>The Power BI map provides the interactive layer for this decision.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</a:defRPr>
            </a:pPr>
            <a:r>
              <a:t>Online Retail BI Capstone  •  8/13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23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Customer Retention Risk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143000"/>
            <a:ext cx="10972800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81328"/>
            <a:ext cx="1033272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32A34"/>
                </a:solidFill>
              </a:defRPr>
            </a:pPr>
            <a:r>
              <a:t>33.26% of customers are classified as inactive under the dashboard's 90-day proxy definition.</a:t>
            </a:r>
          </a:p>
          <a:p>
            <a:pPr>
              <a:spcAft>
                <a:spcPts val="800"/>
              </a:spcAft>
              <a:defRPr sz="1700">
                <a:solidFill>
                  <a:srgbClr val="232A34"/>
                </a:solidFill>
              </a:defRPr>
            </a:pPr>
          </a:p>
          <a:p>
            <a:pPr>
              <a:spcAft>
                <a:spcPts val="800"/>
              </a:spcAft>
              <a:defRPr sz="1700" b="1">
                <a:solidFill>
                  <a:srgbClr val="232A34"/>
                </a:solidFill>
              </a:defRPr>
            </a:pPr>
            <a:r>
              <a:t>Interpretation:</a:t>
            </a:r>
          </a:p>
          <a:p>
            <a:pPr>
              <a:spcAft>
                <a:spcPts val="800"/>
              </a:spcAft>
              <a:defRPr sz="1700">
                <a:solidFill>
                  <a:srgbClr val="232A34"/>
                </a:solidFill>
              </a:defRPr>
            </a:pPr>
            <a:r>
              <a:t>• This is a retention-risk signal, not contractual churn</a:t>
            </a:r>
          </a:p>
          <a:p>
            <a:pPr>
              <a:spcAft>
                <a:spcPts val="800"/>
              </a:spcAft>
              <a:defRPr sz="1700">
                <a:solidFill>
                  <a:srgbClr val="232A34"/>
                </a:solidFill>
              </a:defRPr>
            </a:pPr>
            <a:r>
              <a:t>• The metric can be used to create a reactivation target list</a:t>
            </a:r>
          </a:p>
          <a:p>
            <a:pPr>
              <a:spcAft>
                <a:spcPts val="800"/>
              </a:spcAft>
              <a:defRPr sz="1700">
                <a:solidFill>
                  <a:srgbClr val="232A34"/>
                </a:solidFill>
              </a:defRPr>
            </a:pPr>
            <a:r>
              <a:t>• Customers should be segmented by historical value before incentives are offered</a:t>
            </a:r>
          </a:p>
          <a:p>
            <a:pPr>
              <a:spcAft>
                <a:spcPts val="800"/>
              </a:spcAft>
              <a:defRPr sz="1700">
                <a:solidFill>
                  <a:srgbClr val="232A34"/>
                </a:solidFill>
              </a:defRPr>
            </a:pPr>
          </a:p>
          <a:p>
            <a:pPr>
              <a:spcAft>
                <a:spcPts val="800"/>
              </a:spcAft>
              <a:defRPr sz="1700" b="1">
                <a:solidFill>
                  <a:srgbClr val="232A34"/>
                </a:solidFill>
              </a:defRPr>
            </a:pPr>
            <a:r>
              <a:t>Priority segments:</a:t>
            </a:r>
          </a:p>
          <a:p>
            <a:pPr>
              <a:spcAft>
                <a:spcPts val="800"/>
              </a:spcAft>
              <a:defRPr sz="1700">
                <a:solidFill>
                  <a:srgbClr val="232A34"/>
                </a:solidFill>
              </a:defRPr>
            </a:pPr>
            <a:r>
              <a:t>1. High-value inactive customers</a:t>
            </a:r>
          </a:p>
          <a:p>
            <a:pPr>
              <a:spcAft>
                <a:spcPts val="800"/>
              </a:spcAft>
              <a:defRPr sz="1700">
                <a:solidFill>
                  <a:srgbClr val="232A34"/>
                </a:solidFill>
              </a:defRPr>
            </a:pPr>
            <a:r>
              <a:t>2. Previously frequent customers showing recent inactivity</a:t>
            </a:r>
          </a:p>
          <a:p>
            <a:pPr>
              <a:spcAft>
                <a:spcPts val="800"/>
              </a:spcAft>
              <a:defRPr sz="1700">
                <a:solidFill>
                  <a:srgbClr val="232A34"/>
                </a:solidFill>
              </a:defRPr>
            </a:pPr>
            <a:r>
              <a:t>3. Low-value inactive customers requiring low-cost automated engagement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</a:defRPr>
            </a:pPr>
            <a:r>
              <a:t>Online Retail BI Capstone  •  9/13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23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Three Strategic Recommendations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143000"/>
            <a:ext cx="10972800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81328"/>
            <a:ext cx="1033272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232A34"/>
                </a:solidFill>
              </a:defRPr>
            </a:pPr>
            <a:r>
              <a:t>1. REACTIVATE HIGH-VALUE INACTIVE CUSTOMERS</a:t>
            </a:r>
          </a:p>
          <a:p>
            <a:pPr>
              <a:spcAft>
                <a:spcPts val="800"/>
              </a:spcAft>
              <a:defRPr sz="1700">
                <a:solidFill>
                  <a:srgbClr val="232A34"/>
                </a:solidFill>
              </a:defRPr>
            </a:pPr>
            <a:r>
              <a:t>Launch targeted email/offer campaigns for customers inactive &gt;90 days.</a:t>
            </a:r>
          </a:p>
          <a:p>
            <a:pPr>
              <a:spcAft>
                <a:spcPts val="800"/>
              </a:spcAft>
              <a:defRPr sz="1700">
                <a:solidFill>
                  <a:srgbClr val="232A34"/>
                </a:solidFill>
              </a:defRPr>
            </a:pPr>
          </a:p>
          <a:p>
            <a:pPr>
              <a:spcAft>
                <a:spcPts val="800"/>
              </a:spcAft>
              <a:defRPr sz="1700" b="1">
                <a:solidFill>
                  <a:srgbClr val="232A34"/>
                </a:solidFill>
              </a:defRPr>
            </a:pPr>
            <a:r>
              <a:t>2. PROTECT &amp; GROW TOP PRODUCTS</a:t>
            </a:r>
          </a:p>
          <a:p>
            <a:pPr>
              <a:spcAft>
                <a:spcPts val="800"/>
              </a:spcAft>
              <a:defRPr sz="1700">
                <a:solidFill>
                  <a:srgbClr val="232A34"/>
                </a:solidFill>
              </a:defRPr>
            </a:pPr>
            <a:r>
              <a:t>Prioritize availability, promotion and cross-sell around the highest-revenue SKUs.</a:t>
            </a:r>
          </a:p>
          <a:p>
            <a:pPr>
              <a:spcAft>
                <a:spcPts val="800"/>
              </a:spcAft>
              <a:defRPr sz="1700">
                <a:solidFill>
                  <a:srgbClr val="232A34"/>
                </a:solidFill>
              </a:defRPr>
            </a:pPr>
          </a:p>
          <a:p>
            <a:pPr>
              <a:spcAft>
                <a:spcPts val="800"/>
              </a:spcAft>
              <a:defRPr sz="1700" b="1">
                <a:solidFill>
                  <a:srgbClr val="232A34"/>
                </a:solidFill>
              </a:defRPr>
            </a:pPr>
            <a:r>
              <a:t>3. FOCUS COMMERCIAL EFFORT BY MARKET</a:t>
            </a:r>
          </a:p>
          <a:p>
            <a:pPr>
              <a:spcAft>
                <a:spcPts val="800"/>
              </a:spcAft>
              <a:defRPr sz="1700">
                <a:solidFill>
                  <a:srgbClr val="232A34"/>
                </a:solidFill>
              </a:defRPr>
            </a:pPr>
            <a:r>
              <a:t>Use country-level revenue and order data to concentrate marketing and inventory decisions on high-value markets.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</a:defRPr>
            </a:pPr>
            <a:r>
              <a:t>Online Retail BI Capstone  •  10/13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23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ROI Scenario &amp; Implementation Timeline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143000"/>
            <a:ext cx="10972800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81328"/>
            <a:ext cx="1033272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232A34"/>
                </a:solidFill>
              </a:defRPr>
            </a:pPr>
            <a:r>
              <a:t>Illustrative scenario — not a financial forecast:</a:t>
            </a:r>
          </a:p>
          <a:p>
            <a:pPr>
              <a:spcAft>
                <a:spcPts val="800"/>
              </a:spcAft>
              <a:defRPr sz="1900">
                <a:solidFill>
                  <a:srgbClr val="232A34"/>
                </a:solidFill>
              </a:defRPr>
            </a:pPr>
          </a:p>
          <a:p>
            <a:pPr>
              <a:spcAft>
                <a:spcPts val="800"/>
              </a:spcAft>
              <a:defRPr sz="1900">
                <a:solidFill>
                  <a:srgbClr val="232A34"/>
                </a:solidFill>
              </a:defRPr>
            </a:pPr>
            <a:r>
              <a:t>Baseline revenue: 7.17M</a:t>
            </a:r>
          </a:p>
          <a:p>
            <a:pPr>
              <a:spcAft>
                <a:spcPts val="800"/>
              </a:spcAft>
              <a:defRPr sz="1900">
                <a:solidFill>
                  <a:srgbClr val="232A34"/>
                </a:solidFill>
              </a:defRPr>
            </a:pPr>
            <a:r>
              <a:t>Assumed revenue uplift from combined initiatives: 5%</a:t>
            </a:r>
          </a:p>
          <a:p>
            <a:pPr>
              <a:spcAft>
                <a:spcPts val="800"/>
              </a:spcAft>
              <a:defRPr sz="1900">
                <a:solidFill>
                  <a:srgbClr val="232A34"/>
                </a:solidFill>
              </a:defRPr>
            </a:pPr>
            <a:r>
              <a:t>Illustrative incremental revenue: 358.5K</a:t>
            </a:r>
          </a:p>
          <a:p>
            <a:pPr>
              <a:spcAft>
                <a:spcPts val="800"/>
              </a:spcAft>
              <a:defRPr sz="1900">
                <a:solidFill>
                  <a:srgbClr val="232A34"/>
                </a:solidFill>
              </a:defRPr>
            </a:pPr>
            <a:r>
              <a:t>Illustrative implementation cost: 100K</a:t>
            </a:r>
          </a:p>
          <a:p>
            <a:pPr>
              <a:spcAft>
                <a:spcPts val="800"/>
              </a:spcAft>
              <a:defRPr sz="1900">
                <a:solidFill>
                  <a:srgbClr val="232A34"/>
                </a:solidFill>
              </a:defRPr>
            </a:pPr>
            <a:r>
              <a:t>Illustrative net benefit: 258.5K</a:t>
            </a:r>
          </a:p>
          <a:p>
            <a:pPr>
              <a:spcAft>
                <a:spcPts val="800"/>
              </a:spcAft>
              <a:defRPr sz="1900">
                <a:solidFill>
                  <a:srgbClr val="232A34"/>
                </a:solidFill>
              </a:defRPr>
            </a:pPr>
            <a:r>
              <a:t>Illustrative ROI: 258.5%</a:t>
            </a:r>
          </a:p>
          <a:p>
            <a:pPr>
              <a:spcAft>
                <a:spcPts val="800"/>
              </a:spcAft>
              <a:defRPr sz="1900">
                <a:solidFill>
                  <a:srgbClr val="232A34"/>
                </a:solidFill>
              </a:defRPr>
            </a:pPr>
          </a:p>
          <a:p>
            <a:pPr>
              <a:spcAft>
                <a:spcPts val="800"/>
              </a:spcAft>
              <a:defRPr sz="1900" b="1">
                <a:solidFill>
                  <a:srgbClr val="232A34"/>
                </a:solidFill>
              </a:defRPr>
            </a:pPr>
            <a:r>
              <a:t>Timeline:</a:t>
            </a:r>
          </a:p>
          <a:p>
            <a:pPr>
              <a:spcAft>
                <a:spcPts val="800"/>
              </a:spcAft>
              <a:defRPr sz="1900">
                <a:solidFill>
                  <a:srgbClr val="232A34"/>
                </a:solidFill>
              </a:defRPr>
            </a:pPr>
            <a:r>
              <a:t>0–30 days: segment customers, validate top SKUs and market ranking</a:t>
            </a:r>
          </a:p>
          <a:p>
            <a:pPr>
              <a:spcAft>
                <a:spcPts val="800"/>
              </a:spcAft>
              <a:defRPr sz="1900">
                <a:solidFill>
                  <a:srgbClr val="232A34"/>
                </a:solidFill>
              </a:defRPr>
            </a:pPr>
            <a:r>
              <a:t>31–60 days: launch reactivation and product campaigns</a:t>
            </a:r>
          </a:p>
          <a:p>
            <a:pPr>
              <a:spcAft>
                <a:spcPts val="800"/>
              </a:spcAft>
              <a:defRPr sz="1900">
                <a:solidFill>
                  <a:srgbClr val="232A34"/>
                </a:solidFill>
              </a:defRPr>
            </a:pPr>
            <a:r>
              <a:t>61–90 days: optimize by response, revenue and margin outcomes</a:t>
            </a:r>
          </a:p>
          <a:p>
            <a:pPr>
              <a:spcAft>
                <a:spcPts val="800"/>
              </a:spcAft>
              <a:defRPr sz="1900">
                <a:solidFill>
                  <a:srgbClr val="232A34"/>
                </a:solidFill>
              </a:defRPr>
            </a:pPr>
          </a:p>
          <a:p>
            <a:pPr>
              <a:spcAft>
                <a:spcPts val="800"/>
              </a:spcAft>
              <a:defRPr sz="1900">
                <a:solidFill>
                  <a:srgbClr val="232A34"/>
                </a:solidFill>
              </a:defRPr>
            </a:pPr>
            <a:r>
              <a:t>ROI must be recalculated using actual campaign cost, margin and measured uplift.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</a:defRPr>
            </a:pPr>
            <a:r>
              <a:t>Online Retail BI Capstone  •  11/13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23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Executive Decision &amp; Next Steps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143000"/>
            <a:ext cx="10972800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81328"/>
            <a:ext cx="1033272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232A34"/>
                </a:solidFill>
              </a:defRPr>
            </a:pPr>
            <a:r>
              <a:t>Decision requests:</a:t>
            </a:r>
          </a:p>
          <a:p>
            <a:pPr>
              <a:spcAft>
                <a:spcPts val="800"/>
              </a:spcAft>
              <a:defRPr sz="1700">
                <a:solidFill>
                  <a:srgbClr val="232A34"/>
                </a:solidFill>
              </a:defRPr>
            </a:pPr>
            <a:r>
              <a:t>• Approve a 90-day customer reactivation pilot</a:t>
            </a:r>
          </a:p>
          <a:p>
            <a:pPr>
              <a:spcAft>
                <a:spcPts val="800"/>
              </a:spcAft>
              <a:defRPr sz="1700">
                <a:solidFill>
                  <a:srgbClr val="232A34"/>
                </a:solidFill>
              </a:defRPr>
            </a:pPr>
            <a:r>
              <a:t>• Protect inventory and promotion for top-revenue products</a:t>
            </a:r>
          </a:p>
          <a:p>
            <a:pPr>
              <a:spcAft>
                <a:spcPts val="800"/>
              </a:spcAft>
              <a:defRPr sz="1700">
                <a:solidFill>
                  <a:srgbClr val="232A34"/>
                </a:solidFill>
              </a:defRPr>
            </a:pPr>
            <a:r>
              <a:t>• Establish country-level performance reviews using the Power BI dashboard</a:t>
            </a:r>
          </a:p>
          <a:p>
            <a:pPr>
              <a:spcAft>
                <a:spcPts val="800"/>
              </a:spcAft>
              <a:defRPr sz="1700">
                <a:solidFill>
                  <a:srgbClr val="232A34"/>
                </a:solidFill>
              </a:defRPr>
            </a:pPr>
          </a:p>
          <a:p>
            <a:pPr>
              <a:spcAft>
                <a:spcPts val="800"/>
              </a:spcAft>
              <a:defRPr sz="1700" b="1">
                <a:solidFill>
                  <a:srgbClr val="232A34"/>
                </a:solidFill>
              </a:defRPr>
            </a:pPr>
            <a:r>
              <a:t>Success measures:</a:t>
            </a:r>
          </a:p>
          <a:p>
            <a:pPr>
              <a:spcAft>
                <a:spcPts val="800"/>
              </a:spcAft>
              <a:defRPr sz="1700">
                <a:solidFill>
                  <a:srgbClr val="232A34"/>
                </a:solidFill>
              </a:defRPr>
            </a:pPr>
            <a:r>
              <a:t>• Revenue uplift</a:t>
            </a:r>
          </a:p>
          <a:p>
            <a:pPr>
              <a:spcAft>
                <a:spcPts val="800"/>
              </a:spcAft>
              <a:defRPr sz="1700">
                <a:solidFill>
                  <a:srgbClr val="232A34"/>
                </a:solidFill>
              </a:defRPr>
            </a:pPr>
            <a:r>
              <a:t>• Repeat-purchase rate</a:t>
            </a:r>
          </a:p>
          <a:p>
            <a:pPr>
              <a:spcAft>
                <a:spcPts val="800"/>
              </a:spcAft>
              <a:defRPr sz="1700">
                <a:solidFill>
                  <a:srgbClr val="232A34"/>
                </a:solidFill>
              </a:defRPr>
            </a:pPr>
            <a:r>
              <a:t>• Reactivation rate</a:t>
            </a:r>
          </a:p>
          <a:p>
            <a:pPr>
              <a:spcAft>
                <a:spcPts val="800"/>
              </a:spcAft>
              <a:defRPr sz="1700">
                <a:solidFill>
                  <a:srgbClr val="232A34"/>
                </a:solidFill>
              </a:defRPr>
            </a:pPr>
            <a:r>
              <a:t>• Average Order Value</a:t>
            </a:r>
          </a:p>
          <a:p>
            <a:pPr>
              <a:spcAft>
                <a:spcPts val="800"/>
              </a:spcAft>
              <a:defRPr sz="1700">
                <a:solidFill>
                  <a:srgbClr val="232A34"/>
                </a:solidFill>
              </a:defRPr>
            </a:pPr>
            <a:r>
              <a:t>• Product availability / return rate</a:t>
            </a:r>
          </a:p>
          <a:p>
            <a:pPr>
              <a:spcAft>
                <a:spcPts val="800"/>
              </a:spcAft>
              <a:defRPr sz="1700">
                <a:solidFill>
                  <a:srgbClr val="232A34"/>
                </a:solidFill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232A34"/>
                </a:solidFill>
              </a:defRPr>
            </a:pPr>
            <a:r>
              <a:t>Recommended cadence: weekly operational monitoring + monthly executive review.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</a:defRPr>
            </a:pPr>
            <a:r>
              <a:t>Online Retail BI Capstone  •  12/13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23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Analytics Portfolio &amp; Proof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143000"/>
            <a:ext cx="10972800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81328"/>
            <a:ext cx="1033272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232A34"/>
                </a:solidFill>
              </a:defRPr>
            </a:pPr>
            <a:r>
              <a:t>Power BI Dashboard / Project Repository:</a:t>
            </a:r>
          </a:p>
          <a:p>
            <a:pPr>
              <a:spcAft>
                <a:spcPts val="800"/>
              </a:spcAft>
              <a:defRPr sz="1700">
                <a:solidFill>
                  <a:srgbClr val="232A34"/>
                </a:solidFill>
              </a:defRPr>
            </a:pPr>
            <a:r>
              <a:t>https://github.com/sudeshna52/OnlineRetail</a:t>
            </a:r>
          </a:p>
          <a:p>
            <a:pPr>
              <a:spcAft>
                <a:spcPts val="800"/>
              </a:spcAft>
              <a:defRPr sz="1700">
                <a:solidFill>
                  <a:srgbClr val="232A34"/>
                </a:solidFill>
              </a:defRPr>
            </a:pPr>
          </a:p>
          <a:p>
            <a:pPr>
              <a:spcAft>
                <a:spcPts val="800"/>
              </a:spcAft>
              <a:defRPr sz="1700" b="1">
                <a:solidFill>
                  <a:srgbClr val="232A34"/>
                </a:solidFill>
              </a:defRPr>
            </a:pPr>
            <a:r>
              <a:t>Portfolio includes:</a:t>
            </a:r>
          </a:p>
          <a:p>
            <a:pPr>
              <a:spcAft>
                <a:spcPts val="800"/>
              </a:spcAft>
              <a:defRPr sz="1700">
                <a:solidFill>
                  <a:srgbClr val="232A34"/>
                </a:solidFill>
              </a:defRPr>
            </a:pPr>
            <a:r>
              <a:t>• Data cleaning and preprocessing</a:t>
            </a:r>
          </a:p>
          <a:p>
            <a:pPr>
              <a:spcAft>
                <a:spcPts val="800"/>
              </a:spcAft>
              <a:defRPr sz="1700">
                <a:solidFill>
                  <a:srgbClr val="232A34"/>
                </a:solidFill>
              </a:defRPr>
            </a:pPr>
            <a:r>
              <a:t>• Exploratory data analysis</a:t>
            </a:r>
          </a:p>
          <a:p>
            <a:pPr>
              <a:spcAft>
                <a:spcPts val="800"/>
              </a:spcAft>
              <a:defRPr sz="1700">
                <a:solidFill>
                  <a:srgbClr val="232A34"/>
                </a:solidFill>
              </a:defRPr>
            </a:pPr>
            <a:r>
              <a:t>• Power BI interactive dashboard</a:t>
            </a:r>
          </a:p>
          <a:p>
            <a:pPr>
              <a:spcAft>
                <a:spcPts val="800"/>
              </a:spcAft>
              <a:defRPr sz="1700">
                <a:solidFill>
                  <a:srgbClr val="232A34"/>
                </a:solidFill>
              </a:defRPr>
            </a:pPr>
            <a:r>
              <a:t>• Executive KPI and drill-down analysis</a:t>
            </a:r>
          </a:p>
          <a:p>
            <a:pPr>
              <a:spcAft>
                <a:spcPts val="800"/>
              </a:spcAft>
              <a:defRPr sz="1700">
                <a:solidFill>
                  <a:srgbClr val="232A34"/>
                </a:solidFill>
              </a:defRPr>
            </a:pPr>
            <a:r>
              <a:t>• PBIX and PDF dashboard deliverables</a:t>
            </a:r>
          </a:p>
          <a:p>
            <a:pPr>
              <a:spcAft>
                <a:spcPts val="800"/>
              </a:spcAft>
              <a:defRPr sz="1700">
                <a:solidFill>
                  <a:srgbClr val="232A34"/>
                </a:solidFill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232A34"/>
                </a:solidFill>
              </a:defRPr>
            </a:pPr>
            <a:r>
              <a:t>This report synthesizes the analytical work into an executive decision layer.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</a:defRPr>
            </a:pPr>
            <a:r>
              <a:t>Online Retail BI Capstone  •  13/13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